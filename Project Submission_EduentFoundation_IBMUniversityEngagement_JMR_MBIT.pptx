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56" r:id="rId2"/>
    <p:sldId id="257" r:id="rId3"/>
    <p:sldId id="258" r:id="rId4"/>
    <p:sldId id="260" r:id="rId5"/>
    <p:sldId id="261" r:id="rId6"/>
    <p:sldId id="262" r:id="rId7"/>
    <p:sldId id="263" r:id="rId8"/>
    <p:sldId id="264" r:id="rId9"/>
    <p:sldId id="265" r:id="rId10"/>
    <p:sldId id="266" r:id="rId11"/>
    <p:sldId id="267" r:id="rId12"/>
    <p:sldId id="269" r:id="rId13"/>
    <p:sldId id="270"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ghOvm2EZ50R9dUsIjQzxxGQymf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DA409A-753F-43E9-88D9-1875949E996A}">
  <a:tblStyle styleId="{72DA409A-753F-43E9-88D9-1875949E996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jmrana@mbit.edu.i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emf"/><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61857798"/>
              </p:ext>
            </p:extLst>
          </p:nvPr>
        </p:nvGraphicFramePr>
        <p:xfrm>
          <a:off x="1268362" y="3428999"/>
          <a:ext cx="9625779" cy="2030511"/>
        </p:xfrm>
        <a:graphic>
          <a:graphicData uri="http://schemas.openxmlformats.org/drawingml/2006/table">
            <a:tbl>
              <a:tblPr>
                <a:noFill/>
                <a:tableStyleId>{72DA409A-753F-43E9-88D9-1875949E996A}</a:tableStyleId>
              </a:tblPr>
              <a:tblGrid>
                <a:gridCol w="2115597">
                  <a:extLst>
                    <a:ext uri="{9D8B030D-6E8A-4147-A177-3AD203B41FA5}">
                      <a16:colId xmlns:a16="http://schemas.microsoft.com/office/drawing/2014/main" val="20000"/>
                    </a:ext>
                  </a:extLst>
                </a:gridCol>
                <a:gridCol w="2476067">
                  <a:extLst>
                    <a:ext uri="{9D8B030D-6E8A-4147-A177-3AD203B41FA5}">
                      <a16:colId xmlns:a16="http://schemas.microsoft.com/office/drawing/2014/main" val="20001"/>
                    </a:ext>
                  </a:extLst>
                </a:gridCol>
                <a:gridCol w="2530721">
                  <a:extLst>
                    <a:ext uri="{9D8B030D-6E8A-4147-A177-3AD203B41FA5}">
                      <a16:colId xmlns:a16="http://schemas.microsoft.com/office/drawing/2014/main" val="20002"/>
                    </a:ext>
                  </a:extLst>
                </a:gridCol>
                <a:gridCol w="2503394">
                  <a:extLst>
                    <a:ext uri="{9D8B030D-6E8A-4147-A177-3AD203B41FA5}">
                      <a16:colId xmlns:a16="http://schemas.microsoft.com/office/drawing/2014/main" val="20003"/>
                    </a:ext>
                  </a:extLst>
                </a:gridCol>
              </a:tblGrid>
              <a:tr h="911873">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Recent Passport Photo</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Email ID </a:t>
                      </a:r>
                      <a:endParaRPr sz="18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Mobile number</a:t>
                      </a:r>
                      <a:endParaRPr sz="1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[WhatsApp] </a:t>
                      </a:r>
                      <a:endParaRPr sz="18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18638">
                <a:tc>
                  <a:txBody>
                    <a:bodyPr/>
                    <a:lstStyle/>
                    <a:p>
                      <a:pPr marL="0" marR="0" lvl="0" indent="0" algn="ctr" rtl="0">
                        <a:lnSpc>
                          <a:spcPct val="100000"/>
                        </a:lnSpc>
                        <a:spcBef>
                          <a:spcPts val="0"/>
                        </a:spcBef>
                        <a:spcAft>
                          <a:spcPts val="0"/>
                        </a:spcAft>
                        <a:buClr>
                          <a:srgbClr val="000000"/>
                        </a:buClr>
                        <a:buSzPts val="1400"/>
                        <a:buFont typeface="Arial"/>
                        <a:buNone/>
                      </a:pPr>
                      <a:endParaRPr lang="en-US" sz="1400" u="none" strike="noStrike" cap="none" dirty="0"/>
                    </a:p>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t>JIMESH KUMAR MAHESH KUMAR RANA</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lang="en-US" sz="1400" u="none" strike="noStrike" cap="none" dirty="0">
                        <a:hlinkClick r:id="rId3"/>
                      </a:endParaRPr>
                    </a:p>
                    <a:p>
                      <a:pPr marL="0" marR="0" lvl="0" indent="0" algn="ctr" rtl="0">
                        <a:lnSpc>
                          <a:spcPct val="100000"/>
                        </a:lnSpc>
                        <a:spcBef>
                          <a:spcPts val="0"/>
                        </a:spcBef>
                        <a:spcAft>
                          <a:spcPts val="0"/>
                        </a:spcAft>
                        <a:buClr>
                          <a:srgbClr val="000000"/>
                        </a:buClr>
                        <a:buSzPts val="1400"/>
                        <a:buFont typeface="Arial"/>
                        <a:buNone/>
                      </a:pPr>
                      <a:endParaRPr lang="en-US" sz="1400" u="none" strike="noStrike" cap="none" dirty="0">
                        <a:hlinkClick r:id="rId3"/>
                      </a:endParaRPr>
                    </a:p>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hlinkClick r:id="rId3"/>
                        </a:rPr>
                        <a:t>jmrana@mbit.edu.in</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lang="en-US" sz="1400" u="none" strike="noStrike" cap="none" dirty="0"/>
                    </a:p>
                    <a:p>
                      <a:pPr marL="0" marR="0" lvl="0" indent="0" algn="ctr" rtl="0">
                        <a:lnSpc>
                          <a:spcPct val="100000"/>
                        </a:lnSpc>
                        <a:spcBef>
                          <a:spcPts val="0"/>
                        </a:spcBef>
                        <a:spcAft>
                          <a:spcPts val="0"/>
                        </a:spcAft>
                        <a:buClr>
                          <a:srgbClr val="000000"/>
                        </a:buClr>
                        <a:buSzPts val="1400"/>
                        <a:buFont typeface="Arial"/>
                        <a:buNone/>
                      </a:pPr>
                      <a:endParaRPr lang="en-US" sz="1400" u="none" strike="noStrike" cap="none" dirty="0"/>
                    </a:p>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t>9879787840</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3384691" y="2564098"/>
            <a:ext cx="575507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Agriculture</a:t>
            </a:r>
            <a:endParaRPr sz="2400" b="1" i="0" u="none" strike="noStrike" cap="none" dirty="0">
              <a:solidFill>
                <a:srgbClr val="000000"/>
              </a:solidFill>
              <a:latin typeface="Arial"/>
              <a:ea typeface="Arial"/>
              <a:cs typeface="Arial"/>
              <a:sym typeface="Arial"/>
            </a:endParaRPr>
          </a:p>
        </p:txBody>
      </p:sp>
      <p:sp>
        <p:nvSpPr>
          <p:cNvPr id="89" name="Google Shape;89;p2"/>
          <p:cNvSpPr txBox="1"/>
          <p:nvPr/>
        </p:nvSpPr>
        <p:spPr>
          <a:xfrm>
            <a:off x="3330612" y="1798561"/>
            <a:ext cx="586323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Tile – Agriculture Doctor</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E3E9D5FF-0847-5C3C-AE55-6364EAD4B5CA}"/>
              </a:ext>
            </a:extLst>
          </p:cNvPr>
          <p:cNvPicPr>
            <a:picLocks noChangeAspect="1"/>
          </p:cNvPicPr>
          <p:nvPr/>
        </p:nvPicPr>
        <p:blipFill>
          <a:blip r:embed="rId4"/>
          <a:stretch>
            <a:fillRect/>
          </a:stretch>
        </p:blipFill>
        <p:spPr>
          <a:xfrm>
            <a:off x="4208208" y="4425369"/>
            <a:ext cx="823402" cy="1034141"/>
          </a:xfrm>
          <a:prstGeom prst="rect">
            <a:avLst/>
          </a:prstGeom>
        </p:spPr>
      </p:pic>
      <p:pic>
        <p:nvPicPr>
          <p:cNvPr id="5" name="Picture 4">
            <a:extLst>
              <a:ext uri="{FF2B5EF4-FFF2-40B4-BE49-F238E27FC236}">
                <a16:creationId xmlns:a16="http://schemas.microsoft.com/office/drawing/2014/main" id="{962E909A-6348-92BB-2861-C587028A14F6}"/>
              </a:ext>
            </a:extLst>
          </p:cNvPr>
          <p:cNvPicPr>
            <a:picLocks noChangeAspect="1"/>
          </p:cNvPicPr>
          <p:nvPr/>
        </p:nvPicPr>
        <p:blipFill>
          <a:blip r:embed="rId5"/>
          <a:stretch>
            <a:fillRect/>
          </a:stretch>
        </p:blipFill>
        <p:spPr>
          <a:xfrm>
            <a:off x="1396181" y="452012"/>
            <a:ext cx="8957187" cy="12771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576072" y="1234440"/>
            <a:ext cx="10607040" cy="50474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algn="just"/>
            <a:r>
              <a:rPr lang="en-IN" dirty="0"/>
              <a:t>Farmers often face challenges in identifying crop diseases, pest infestations, nutrient deficiencies, and suitable treatment methods in a timely manner. Due to limited access to agricultural experts, changing weather conditions, and lack of personalized guidance, farmers may experience reduced crop yields, financial losses, and inefficient use of resources such as fertilizers, pesticides, and water.</a:t>
            </a:r>
          </a:p>
          <a:p>
            <a:pPr algn="just"/>
            <a:r>
              <a:rPr lang="en-IN" dirty="0"/>
              <a:t>Traditional agricultural advisory systems provide generic recommendations and cannot continuously </a:t>
            </a:r>
            <a:r>
              <a:rPr lang="en-IN" dirty="0" err="1"/>
              <a:t>analyze</a:t>
            </a:r>
            <a:r>
              <a:rPr lang="en-IN" dirty="0"/>
              <a:t> multiple factors such as crop health, weather forecasts, soil conditions, and farming practices. Farmers need an intelligent system that can autonomously gather information, </a:t>
            </a:r>
            <a:r>
              <a:rPr lang="en-IN" dirty="0" err="1"/>
              <a:t>analyze</a:t>
            </a:r>
            <a:r>
              <a:rPr lang="en-IN" dirty="0"/>
              <a:t> agricultural problems, consult multiple knowledge sources, and provide accurate, actionable recommendations.</a:t>
            </a:r>
          </a:p>
          <a:p>
            <a:pPr algn="just"/>
            <a:r>
              <a:rPr lang="en-IN" dirty="0"/>
              <a:t>The proposed </a:t>
            </a:r>
            <a:r>
              <a:rPr lang="en-IN" b="1" dirty="0"/>
              <a:t>Agriculture Doctor</a:t>
            </a:r>
            <a:r>
              <a:rPr lang="en-IN" dirty="0"/>
              <a:t> leverages </a:t>
            </a:r>
            <a:r>
              <a:rPr lang="en-IN" b="1" dirty="0"/>
              <a:t>Agentic AI</a:t>
            </a:r>
            <a:r>
              <a:rPr lang="en-IN" dirty="0"/>
              <a:t> to act as a virtual agricultural expert. The system uses specialized AI agents that collaborate to diagnose crop diseases, identify pests and nutrient deficiencies, </a:t>
            </a:r>
            <a:r>
              <a:rPr lang="en-IN" dirty="0" err="1"/>
              <a:t>analyze</a:t>
            </a:r>
            <a:r>
              <a:rPr lang="en-IN" dirty="0"/>
              <a:t> environmental conditions, and recommend appropriate treatments and preventive measures. By integrating image analysis, weather data, agricultural knowledge bases, and farmer inputs, the system delivers personalized and real-time farming advice.</a:t>
            </a:r>
          </a:p>
          <a:p>
            <a:pPr marL="0" marR="0" lvl="0" indent="0" algn="l" rtl="0">
              <a:lnSpc>
                <a:spcPct val="100000"/>
              </a:lnSpc>
              <a:spcBef>
                <a:spcPts val="0"/>
              </a:spcBef>
              <a:spcAft>
                <a:spcPts val="0"/>
              </a:spcAft>
              <a:buNone/>
            </a:pPr>
            <a:endParaRPr lang="en-IN" dirty="0"/>
          </a:p>
          <a:p>
            <a:r>
              <a:rPr lang="en-IN" b="1" dirty="0"/>
              <a:t>Objectives</a:t>
            </a:r>
          </a:p>
          <a:p>
            <a:pPr marL="285750" indent="-285750" algn="just">
              <a:buFont typeface="Arial" panose="020B0604020202020204" pitchFamily="34" charset="0"/>
              <a:buChar char="•"/>
            </a:pPr>
            <a:r>
              <a:rPr lang="en-IN" dirty="0"/>
              <a:t>Detect crop diseases and pest infestations from farmer-provided images and descriptions. </a:t>
            </a:r>
          </a:p>
          <a:p>
            <a:pPr marL="285750" indent="-285750" algn="just">
              <a:buFont typeface="Arial" panose="020B0604020202020204" pitchFamily="34" charset="0"/>
              <a:buChar char="•"/>
            </a:pPr>
            <a:r>
              <a:rPr lang="en-IN" dirty="0" err="1"/>
              <a:t>Analyze</a:t>
            </a:r>
            <a:r>
              <a:rPr lang="en-IN" dirty="0"/>
              <a:t> environmental factors such as weather and soil conditions. </a:t>
            </a:r>
          </a:p>
          <a:p>
            <a:pPr marL="285750" indent="-285750" algn="just">
              <a:buFont typeface="Arial" panose="020B0604020202020204" pitchFamily="34" charset="0"/>
              <a:buChar char="•"/>
            </a:pPr>
            <a:r>
              <a:rPr lang="en-IN" dirty="0"/>
              <a:t>Provide treatment recommendations including fertilizers, pesticides, and farming practices. </a:t>
            </a:r>
          </a:p>
          <a:p>
            <a:pPr marL="285750" indent="-285750" algn="just">
              <a:buFont typeface="Arial" panose="020B0604020202020204" pitchFamily="34" charset="0"/>
              <a:buChar char="•"/>
            </a:pPr>
            <a:r>
              <a:rPr lang="en-IN" dirty="0"/>
              <a:t>Suggest preventive measures to reduce future crop losses. </a:t>
            </a:r>
          </a:p>
          <a:p>
            <a:pPr marL="285750" indent="-285750" algn="just">
              <a:buFont typeface="Arial" panose="020B0604020202020204" pitchFamily="34" charset="0"/>
              <a:buChar char="•"/>
            </a:pPr>
            <a:r>
              <a:rPr lang="en-IN" dirty="0"/>
              <a:t>Offer multilingual and easy-to-understand guidance for farmers. </a:t>
            </a:r>
          </a:p>
          <a:p>
            <a:pPr marL="285750" indent="-285750" algn="just">
              <a:buFont typeface="Arial" panose="020B0604020202020204" pitchFamily="34" charset="0"/>
              <a:buChar char="•"/>
            </a:pPr>
            <a:r>
              <a:rPr lang="en-IN" dirty="0"/>
              <a:t>Improve crop productivity and support sustainable agriculture.</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5" name="Google Shape;95;p34"/>
          <p:cNvSpPr txBox="1"/>
          <p:nvPr/>
        </p:nvSpPr>
        <p:spPr>
          <a:xfrm>
            <a:off x="4569984" y="605765"/>
            <a:ext cx="3052031"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Problem Statement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918283" y="3230388"/>
            <a:ext cx="10607040" cy="24621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lang="en-US" b="1" dirty="0"/>
          </a:p>
          <a:p>
            <a:endParaRPr lang="en-US" b="1" dirty="0"/>
          </a:p>
          <a:p>
            <a:pPr algn="just"/>
            <a:r>
              <a:rPr lang="en-IN" dirty="0"/>
              <a:t>The </a:t>
            </a:r>
            <a:r>
              <a:rPr lang="en-IN" b="1" dirty="0"/>
              <a:t>Agriculture Doctor</a:t>
            </a:r>
            <a:r>
              <a:rPr lang="en-IN" dirty="0"/>
              <a:t> is an Agentic AI-powered agricultural assistant that helps farmers diagnose crop diseases, identify pests and nutrient deficiencies, and receive personalized farming recommendations. The system uses multiple AI agents that collaborate autonomously to </a:t>
            </a:r>
            <a:r>
              <a:rPr lang="en-IN" dirty="0" err="1"/>
              <a:t>analyze</a:t>
            </a:r>
            <a:r>
              <a:rPr lang="en-IN" dirty="0"/>
              <a:t> farmer inputs, gather relevant information, and provide actionable recommendations.</a:t>
            </a:r>
          </a:p>
          <a:p>
            <a:pPr algn="just"/>
            <a:endParaRPr lang="en-IN" dirty="0"/>
          </a:p>
          <a:p>
            <a:pPr algn="just"/>
            <a:r>
              <a:rPr lang="en-IN" dirty="0"/>
              <a:t>Built using </a:t>
            </a:r>
            <a:r>
              <a:rPr lang="en-IN" dirty="0" err="1"/>
              <a:t>Langflow</a:t>
            </a:r>
            <a:r>
              <a:rPr lang="en-IN" dirty="0"/>
              <a:t> and IBM watsonx.ai Granite Models, the solution combines Large Language Models (LLMs), Retrieval-Augmented Generation (RAG), agricultural knowledge bases, weather intelligence, and image analysis to deliver expert-level agricultural support.</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4619145" y="2552553"/>
            <a:ext cx="295370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
        <p:nvSpPr>
          <p:cNvPr id="2" name="Google Shape;101;p35">
            <a:extLst>
              <a:ext uri="{FF2B5EF4-FFF2-40B4-BE49-F238E27FC236}">
                <a16:creationId xmlns:a16="http://schemas.microsoft.com/office/drawing/2014/main" id="{ED91CB97-CB32-3972-3198-9C0211BAD96C}"/>
              </a:ext>
            </a:extLst>
          </p:cNvPr>
          <p:cNvSpPr txBox="1"/>
          <p:nvPr/>
        </p:nvSpPr>
        <p:spPr>
          <a:xfrm>
            <a:off x="4653558" y="799799"/>
            <a:ext cx="288488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Technology Used </a:t>
            </a:r>
            <a:endParaRPr sz="2400" b="1" i="0" u="none" strike="noStrike" cap="none" dirty="0">
              <a:solidFill>
                <a:srgbClr val="000000"/>
              </a:solidFill>
              <a:latin typeface="Arial"/>
              <a:ea typeface="Arial"/>
              <a:cs typeface="Arial"/>
              <a:sym typeface="Arial"/>
            </a:endParaRPr>
          </a:p>
        </p:txBody>
      </p:sp>
      <p:sp>
        <p:nvSpPr>
          <p:cNvPr id="4" name="TextBox 3">
            <a:extLst>
              <a:ext uri="{FF2B5EF4-FFF2-40B4-BE49-F238E27FC236}">
                <a16:creationId xmlns:a16="http://schemas.microsoft.com/office/drawing/2014/main" id="{B2C283A2-0385-BCBB-09DE-BEF9F5A59ACA}"/>
              </a:ext>
            </a:extLst>
          </p:cNvPr>
          <p:cNvSpPr txBox="1"/>
          <p:nvPr/>
        </p:nvSpPr>
        <p:spPr>
          <a:xfrm>
            <a:off x="3706762" y="1477634"/>
            <a:ext cx="4385186" cy="307777"/>
          </a:xfrm>
          <a:prstGeom prst="rect">
            <a:avLst/>
          </a:prstGeom>
          <a:noFill/>
        </p:spPr>
        <p:txBody>
          <a:bodyPr wrap="square">
            <a:spAutoFit/>
          </a:bodyPr>
          <a:lstStyle/>
          <a:p>
            <a:r>
              <a:rPr lang="en-US" sz="1400" b="0" i="0" u="none" strike="noStrike" cap="none" dirty="0">
                <a:solidFill>
                  <a:srgbClr val="000000"/>
                </a:solidFill>
                <a:latin typeface="+mj-lt"/>
                <a:cs typeface="Times New Roman" panose="02020603050405020304" pitchFamily="18" charset="0"/>
                <a:sym typeface="Arial"/>
              </a:rPr>
              <a:t>I used </a:t>
            </a:r>
            <a:r>
              <a:rPr lang="en-US" sz="1400" b="0" i="0" u="none" strike="noStrike" cap="none" dirty="0" err="1">
                <a:solidFill>
                  <a:srgbClr val="000000"/>
                </a:solidFill>
                <a:latin typeface="+mj-lt"/>
                <a:cs typeface="Times New Roman" panose="02020603050405020304" pitchFamily="18" charset="0"/>
                <a:sym typeface="Arial"/>
              </a:rPr>
              <a:t>LangFlow</a:t>
            </a:r>
            <a:r>
              <a:rPr lang="en-US" sz="1400" b="0" i="0" u="none" strike="noStrike" cap="none" dirty="0">
                <a:solidFill>
                  <a:srgbClr val="000000"/>
                </a:solidFill>
                <a:latin typeface="+mj-lt"/>
                <a:cs typeface="Times New Roman" panose="02020603050405020304" pitchFamily="18" charset="0"/>
                <a:sym typeface="Arial"/>
              </a:rPr>
              <a:t> + IBM watsonx.ai + Granite Models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4015109" y="254413"/>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component Used</a:t>
            </a:r>
            <a:endParaRPr sz="2400" b="1" i="0" u="none" strike="noStrike" cap="none" dirty="0">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537671" y="946932"/>
            <a:ext cx="11001375" cy="59092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algn="just"/>
            <a:r>
              <a:rPr lang="en-IN" dirty="0"/>
              <a:t>1) Chat Input</a:t>
            </a:r>
          </a:p>
          <a:p>
            <a:pPr algn="just"/>
            <a:r>
              <a:rPr lang="en-IN" dirty="0"/>
              <a:t>Interface where farmers enter their queries, crop details, symptoms, soil information, or upload plant images (text/voice/image).</a:t>
            </a:r>
          </a:p>
          <a:p>
            <a:pPr algn="just"/>
            <a:endParaRPr lang="en-IN" dirty="0"/>
          </a:p>
          <a:p>
            <a:pPr algn="just"/>
            <a:r>
              <a:rPr lang="en-IN" dirty="0"/>
              <a:t>2) IBM </a:t>
            </a:r>
            <a:r>
              <a:rPr lang="en-IN" dirty="0" err="1"/>
              <a:t>watsonx</a:t>
            </a:r>
            <a:r>
              <a:rPr lang="en-IN" dirty="0"/>
              <a:t> AI Agent</a:t>
            </a:r>
          </a:p>
          <a:p>
            <a:pPr algn="just"/>
            <a:r>
              <a:rPr lang="en-IN" dirty="0"/>
              <a:t>Processes farmer input using IBM Granite models to </a:t>
            </a:r>
            <a:r>
              <a:rPr lang="en-IN" dirty="0" err="1"/>
              <a:t>analyze</a:t>
            </a:r>
            <a:r>
              <a:rPr lang="en-IN" dirty="0"/>
              <a:t> crop conditions, identify diseases, provide treatment recommendations, and offer precision farming guidance.</a:t>
            </a:r>
          </a:p>
          <a:p>
            <a:pPr algn="just"/>
            <a:endParaRPr lang="en-IN" dirty="0"/>
          </a:p>
          <a:p>
            <a:pPr algn="just"/>
            <a:r>
              <a:rPr lang="en-IN" dirty="0"/>
              <a:t>3) IBM Granite Model</a:t>
            </a:r>
          </a:p>
          <a:p>
            <a:pPr algn="just"/>
            <a:r>
              <a:rPr lang="en-IN" dirty="0"/>
              <a:t>Granite-4.0-8B-Instruct</a:t>
            </a:r>
          </a:p>
          <a:p>
            <a:pPr algn="just"/>
            <a:endParaRPr lang="en-IN" dirty="0"/>
          </a:p>
          <a:p>
            <a:pPr algn="just"/>
            <a:r>
              <a:rPr lang="en-IN" dirty="0"/>
              <a:t>4) Chat Output</a:t>
            </a:r>
          </a:p>
          <a:p>
            <a:pPr algn="just"/>
            <a:r>
              <a:rPr lang="en-IN" dirty="0"/>
              <a:t>Displays AI-generated responses such as disease diagnosis, treatment recommendations, fertilizer schedules, irrigation advice, and crop management suggestions.</a:t>
            </a:r>
          </a:p>
          <a:p>
            <a:pPr algn="just"/>
            <a:endParaRPr lang="en-IN" dirty="0"/>
          </a:p>
          <a:p>
            <a:pPr algn="just"/>
            <a:r>
              <a:rPr lang="en-IN" dirty="0"/>
              <a:t>5) File Component</a:t>
            </a:r>
          </a:p>
          <a:p>
            <a:pPr algn="just"/>
            <a:r>
              <a:rPr lang="en-IN" dirty="0"/>
              <a:t>Stores and retrieves crop images, farmer records, disease datasets, soil reports, weather information, and treatment histories for analysis and future recommendations.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38"/>
          <p:cNvSpPr/>
          <p:nvPr/>
        </p:nvSpPr>
        <p:spPr>
          <a:xfrm>
            <a:off x="4797570" y="301831"/>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workflow</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466867D8-62ED-4DE9-2B20-492732F7CA1B}"/>
              </a:ext>
            </a:extLst>
          </p:cNvPr>
          <p:cNvPicPr>
            <a:picLocks noChangeAspect="1"/>
          </p:cNvPicPr>
          <p:nvPr/>
        </p:nvPicPr>
        <p:blipFill>
          <a:blip r:embed="rId3"/>
          <a:stretch>
            <a:fillRect/>
          </a:stretch>
        </p:blipFill>
        <p:spPr>
          <a:xfrm>
            <a:off x="1465005" y="1220316"/>
            <a:ext cx="8936693" cy="51921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7"/>
          <p:cNvSpPr/>
          <p:nvPr/>
        </p:nvSpPr>
        <p:spPr>
          <a:xfrm>
            <a:off x="4421332" y="323239"/>
            <a:ext cx="3149507"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dirty="0">
                <a:solidFill>
                  <a:schemeClr val="dk1"/>
                </a:solidFill>
                <a:latin typeface="Calibri"/>
                <a:ea typeface="Calibri"/>
                <a:cs typeface="Calibri"/>
                <a:sym typeface="Calibri"/>
              </a:rPr>
              <a:t>Architecture blueprint</a:t>
            </a:r>
            <a:endParaRPr sz="2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1F452C05-CA3D-58C5-5513-BCBBD3307F33}"/>
              </a:ext>
            </a:extLst>
          </p:cNvPr>
          <p:cNvPicPr>
            <a:picLocks noChangeAspect="1"/>
          </p:cNvPicPr>
          <p:nvPr/>
        </p:nvPicPr>
        <p:blipFill>
          <a:blip r:embed="rId3"/>
          <a:stretch>
            <a:fillRect/>
          </a:stretch>
        </p:blipFill>
        <p:spPr>
          <a:xfrm>
            <a:off x="1474838" y="771747"/>
            <a:ext cx="8820764" cy="588050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2588244" y="352290"/>
            <a:ext cx="6575421"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solution </a:t>
            </a:r>
            <a:endParaRPr sz="3200" b="1" i="0" u="none" strike="noStrike" cap="none" dirty="0">
              <a:solidFill>
                <a:srgbClr val="000000"/>
              </a:solidFill>
              <a:latin typeface="Arial"/>
              <a:ea typeface="Arial"/>
              <a:cs typeface="Arial"/>
              <a:sym typeface="Arial"/>
            </a:endParaRPr>
          </a:p>
        </p:txBody>
      </p:sp>
      <p:sp>
        <p:nvSpPr>
          <p:cNvPr id="138" name="Google Shape;138;p9"/>
          <p:cNvSpPr txBox="1"/>
          <p:nvPr/>
        </p:nvSpPr>
        <p:spPr>
          <a:xfrm>
            <a:off x="621792" y="1167493"/>
            <a:ext cx="7406640" cy="37548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lang="en-US" sz="1400" b="1" i="0" u="none" strike="noStrike" cap="none" dirty="0">
              <a:solidFill>
                <a:srgbClr val="000000"/>
              </a:solidFill>
              <a:latin typeface="Arial"/>
              <a:ea typeface="Arial"/>
              <a:cs typeface="Arial"/>
              <a:sym typeface="Arial"/>
            </a:endParaRPr>
          </a:p>
          <a:p>
            <a:pPr>
              <a:lnSpc>
                <a:spcPct val="150000"/>
              </a:lnSpc>
            </a:pPr>
            <a:r>
              <a:rPr lang="en-IN" dirty="0"/>
              <a:t>When a farmer submits a crop image or describes a problem, the Agentic AI system:</a:t>
            </a:r>
          </a:p>
          <a:p>
            <a:pPr marL="285750" indent="-285750">
              <a:lnSpc>
                <a:spcPct val="150000"/>
              </a:lnSpc>
              <a:buFont typeface="Arial" panose="020B0604020202020204" pitchFamily="34" charset="0"/>
              <a:buChar char="•"/>
            </a:pPr>
            <a:r>
              <a:rPr lang="en-IN" dirty="0"/>
              <a:t>Understands the farmer's query. </a:t>
            </a:r>
          </a:p>
          <a:p>
            <a:pPr marL="285750" indent="-285750">
              <a:lnSpc>
                <a:spcPct val="150000"/>
              </a:lnSpc>
              <a:buFont typeface="Arial" panose="020B0604020202020204" pitchFamily="34" charset="0"/>
              <a:buChar char="•"/>
            </a:pPr>
            <a:r>
              <a:rPr lang="en-IN" dirty="0"/>
              <a:t>Identifies the crop and symptoms. </a:t>
            </a:r>
          </a:p>
          <a:p>
            <a:pPr marL="285750" indent="-285750">
              <a:lnSpc>
                <a:spcPct val="150000"/>
              </a:lnSpc>
              <a:buFont typeface="Arial" panose="020B0604020202020204" pitchFamily="34" charset="0"/>
              <a:buChar char="•"/>
            </a:pPr>
            <a:r>
              <a:rPr lang="en-IN" dirty="0"/>
              <a:t>Retrieves relevant agricultural knowledge. </a:t>
            </a:r>
          </a:p>
          <a:p>
            <a:pPr marL="285750" indent="-285750">
              <a:lnSpc>
                <a:spcPct val="150000"/>
              </a:lnSpc>
              <a:buFont typeface="Arial" panose="020B0604020202020204" pitchFamily="34" charset="0"/>
              <a:buChar char="•"/>
            </a:pPr>
            <a:r>
              <a:rPr lang="en-IN" dirty="0" err="1"/>
              <a:t>Analyzes</a:t>
            </a:r>
            <a:r>
              <a:rPr lang="en-IN" dirty="0"/>
              <a:t> weather and environmental conditions. </a:t>
            </a:r>
          </a:p>
          <a:p>
            <a:pPr marL="285750" indent="-285750">
              <a:lnSpc>
                <a:spcPct val="150000"/>
              </a:lnSpc>
              <a:buFont typeface="Arial" panose="020B0604020202020204" pitchFamily="34" charset="0"/>
              <a:buChar char="•"/>
            </a:pPr>
            <a:r>
              <a:rPr lang="en-IN" dirty="0"/>
              <a:t>Diagnoses possible diseases or pest infestations. </a:t>
            </a:r>
          </a:p>
          <a:p>
            <a:pPr marL="285750" indent="-285750">
              <a:lnSpc>
                <a:spcPct val="150000"/>
              </a:lnSpc>
              <a:buFont typeface="Arial" panose="020B0604020202020204" pitchFamily="34" charset="0"/>
              <a:buChar char="•"/>
            </a:pPr>
            <a:r>
              <a:rPr lang="en-IN" dirty="0"/>
              <a:t>Generates treatment and prevention recommendations. </a:t>
            </a:r>
          </a:p>
          <a:p>
            <a:pPr marL="285750" indent="-285750">
              <a:lnSpc>
                <a:spcPct val="150000"/>
              </a:lnSpc>
              <a:buFont typeface="Arial" panose="020B0604020202020204" pitchFamily="34" charset="0"/>
              <a:buChar char="•"/>
            </a:pPr>
            <a:r>
              <a:rPr lang="en-IN" dirty="0"/>
              <a:t>Provides a comprehensive advisory report. </a:t>
            </a:r>
          </a:p>
          <a:p>
            <a:pPr marL="285750" indent="-285750">
              <a:lnSpc>
                <a:spcPct val="150000"/>
              </a:lnSpc>
              <a:buFont typeface="Arial" panose="020B0604020202020204" pitchFamily="34" charset="0"/>
              <a:buChar char="•"/>
            </a:pPr>
            <a:r>
              <a:rPr lang="en-IN" dirty="0"/>
              <a:t>This autonomous decision-making process makes the system more intelligent and effective than conventional agricultural support systems.</a:t>
            </a:r>
          </a:p>
          <a:p>
            <a:pPr marL="0" marR="0" lvl="0" indent="0" algn="l" rtl="0">
              <a:lnSpc>
                <a:spcPct val="100000"/>
              </a:lnSpc>
              <a:spcBef>
                <a:spcPts val="0"/>
              </a:spcBef>
              <a:spcAft>
                <a:spcPts val="0"/>
              </a:spcAft>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4533163" y="415806"/>
            <a:ext cx="286069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graphicFrame>
        <p:nvGraphicFramePr>
          <p:cNvPr id="3" name="Table 2">
            <a:extLst>
              <a:ext uri="{FF2B5EF4-FFF2-40B4-BE49-F238E27FC236}">
                <a16:creationId xmlns:a16="http://schemas.microsoft.com/office/drawing/2014/main" id="{CB57B825-59C7-2940-F10E-699C38DDCA29}"/>
              </a:ext>
            </a:extLst>
          </p:cNvPr>
          <p:cNvGraphicFramePr>
            <a:graphicFrameLocks noGrp="1"/>
          </p:cNvGraphicFramePr>
          <p:nvPr>
            <p:extLst>
              <p:ext uri="{D42A27DB-BD31-4B8C-83A1-F6EECF244321}">
                <p14:modId xmlns:p14="http://schemas.microsoft.com/office/powerpoint/2010/main" val="2207091314"/>
              </p:ext>
            </p:extLst>
          </p:nvPr>
        </p:nvGraphicFramePr>
        <p:xfrm>
          <a:off x="2370803" y="1579117"/>
          <a:ext cx="7648268" cy="3425503"/>
        </p:xfrm>
        <a:graphic>
          <a:graphicData uri="http://schemas.openxmlformats.org/drawingml/2006/table">
            <a:tbl>
              <a:tblPr/>
              <a:tblGrid>
                <a:gridCol w="3843790">
                  <a:extLst>
                    <a:ext uri="{9D8B030D-6E8A-4147-A177-3AD203B41FA5}">
                      <a16:colId xmlns:a16="http://schemas.microsoft.com/office/drawing/2014/main" val="960382008"/>
                    </a:ext>
                  </a:extLst>
                </a:gridCol>
                <a:gridCol w="3804478">
                  <a:extLst>
                    <a:ext uri="{9D8B030D-6E8A-4147-A177-3AD203B41FA5}">
                      <a16:colId xmlns:a16="http://schemas.microsoft.com/office/drawing/2014/main" val="3453568507"/>
                    </a:ext>
                  </a:extLst>
                </a:gridCol>
              </a:tblGrid>
              <a:tr h="439167">
                <a:tc>
                  <a:txBody>
                    <a:bodyPr/>
                    <a:lstStyle/>
                    <a:p>
                      <a:pPr>
                        <a:buNone/>
                      </a:pPr>
                      <a:r>
                        <a:rPr lang="en-IN"/>
                        <a:t>Technology</a:t>
                      </a:r>
                    </a:p>
                  </a:txBody>
                  <a:tcPr anchor="ctr">
                    <a:lnL>
                      <a:noFill/>
                    </a:lnL>
                    <a:lnR>
                      <a:noFill/>
                    </a:lnR>
                    <a:lnT>
                      <a:noFill/>
                    </a:lnT>
                    <a:lnB>
                      <a:noFill/>
                    </a:lnB>
                    <a:noFill/>
                  </a:tcPr>
                </a:tc>
                <a:tc>
                  <a:txBody>
                    <a:bodyPr/>
                    <a:lstStyle/>
                    <a:p>
                      <a:pPr>
                        <a:buNone/>
                      </a:pPr>
                      <a:r>
                        <a:rPr lang="en-IN"/>
                        <a:t>Purpose in Agriculture Doctor</a:t>
                      </a:r>
                    </a:p>
                  </a:txBody>
                  <a:tcPr anchor="ctr">
                    <a:lnL>
                      <a:noFill/>
                    </a:lnL>
                    <a:lnR>
                      <a:noFill/>
                    </a:lnR>
                    <a:lnT>
                      <a:noFill/>
                    </a:lnT>
                    <a:lnB>
                      <a:noFill/>
                    </a:lnB>
                    <a:noFill/>
                  </a:tcPr>
                </a:tc>
                <a:extLst>
                  <a:ext uri="{0D108BD9-81ED-4DB2-BD59-A6C34878D82A}">
                    <a16:rowId xmlns:a16="http://schemas.microsoft.com/office/drawing/2014/main" val="4187072581"/>
                  </a:ext>
                </a:extLst>
              </a:tr>
              <a:tr h="746584">
                <a:tc>
                  <a:txBody>
                    <a:bodyPr/>
                    <a:lstStyle/>
                    <a:p>
                      <a:pPr>
                        <a:buNone/>
                      </a:pPr>
                      <a:r>
                        <a:rPr lang="en-IN" b="1"/>
                        <a:t>Langflow</a:t>
                      </a:r>
                      <a:endParaRPr lang="en-IN"/>
                    </a:p>
                  </a:txBody>
                  <a:tcPr anchor="ctr">
                    <a:lnL>
                      <a:noFill/>
                    </a:lnL>
                    <a:lnR>
                      <a:noFill/>
                    </a:lnR>
                    <a:lnT>
                      <a:noFill/>
                    </a:lnT>
                    <a:lnB>
                      <a:noFill/>
                    </a:lnB>
                    <a:noFill/>
                  </a:tcPr>
                </a:tc>
                <a:tc>
                  <a:txBody>
                    <a:bodyPr/>
                    <a:lstStyle/>
                    <a:p>
                      <a:pPr>
                        <a:buNone/>
                      </a:pPr>
                      <a:r>
                        <a:rPr lang="en-IN"/>
                        <a:t>Visual development of multi-agent agricultural workflows</a:t>
                      </a:r>
                    </a:p>
                  </a:txBody>
                  <a:tcPr anchor="ctr">
                    <a:lnL>
                      <a:noFill/>
                    </a:lnL>
                    <a:lnR>
                      <a:noFill/>
                    </a:lnR>
                    <a:lnT>
                      <a:noFill/>
                    </a:lnT>
                    <a:lnB>
                      <a:noFill/>
                    </a:lnB>
                    <a:noFill/>
                  </a:tcPr>
                </a:tc>
                <a:extLst>
                  <a:ext uri="{0D108BD9-81ED-4DB2-BD59-A6C34878D82A}">
                    <a16:rowId xmlns:a16="http://schemas.microsoft.com/office/drawing/2014/main" val="2252671780"/>
                  </a:ext>
                </a:extLst>
              </a:tr>
              <a:tr h="746584">
                <a:tc>
                  <a:txBody>
                    <a:bodyPr/>
                    <a:lstStyle/>
                    <a:p>
                      <a:pPr>
                        <a:buNone/>
                      </a:pPr>
                      <a:r>
                        <a:rPr lang="en-IN" b="1"/>
                        <a:t>IBM Granite Model</a:t>
                      </a:r>
                      <a:endParaRPr lang="en-IN"/>
                    </a:p>
                  </a:txBody>
                  <a:tcPr anchor="ctr">
                    <a:lnL>
                      <a:noFill/>
                    </a:lnL>
                    <a:lnR>
                      <a:noFill/>
                    </a:lnR>
                    <a:lnT>
                      <a:noFill/>
                    </a:lnT>
                    <a:lnB>
                      <a:noFill/>
                    </a:lnB>
                    <a:noFill/>
                  </a:tcPr>
                </a:tc>
                <a:tc>
                  <a:txBody>
                    <a:bodyPr/>
                    <a:lstStyle/>
                    <a:p>
                      <a:pPr>
                        <a:buNone/>
                      </a:pPr>
                      <a:r>
                        <a:rPr lang="en-IN" dirty="0"/>
                        <a:t>Disease diagnosis, crop advisory, and agricultural reasoning</a:t>
                      </a:r>
                    </a:p>
                  </a:txBody>
                  <a:tcPr anchor="ctr">
                    <a:lnL>
                      <a:noFill/>
                    </a:lnL>
                    <a:lnR>
                      <a:noFill/>
                    </a:lnR>
                    <a:lnT>
                      <a:noFill/>
                    </a:lnT>
                    <a:lnB>
                      <a:noFill/>
                    </a:lnB>
                    <a:noFill/>
                  </a:tcPr>
                </a:tc>
                <a:extLst>
                  <a:ext uri="{0D108BD9-81ED-4DB2-BD59-A6C34878D82A}">
                    <a16:rowId xmlns:a16="http://schemas.microsoft.com/office/drawing/2014/main" val="3456898613"/>
                  </a:ext>
                </a:extLst>
              </a:tr>
              <a:tr h="746584">
                <a:tc>
                  <a:txBody>
                    <a:bodyPr/>
                    <a:lstStyle/>
                    <a:p>
                      <a:pPr>
                        <a:buNone/>
                      </a:pPr>
                      <a:r>
                        <a:rPr lang="en-IN" b="1" dirty="0"/>
                        <a:t>IBM Cloud</a:t>
                      </a:r>
                      <a:endParaRPr lang="en-IN" dirty="0"/>
                    </a:p>
                  </a:txBody>
                  <a:tcPr anchor="ctr">
                    <a:lnL>
                      <a:noFill/>
                    </a:lnL>
                    <a:lnR>
                      <a:noFill/>
                    </a:lnR>
                    <a:lnT>
                      <a:noFill/>
                    </a:lnT>
                    <a:lnB>
                      <a:noFill/>
                    </a:lnB>
                    <a:noFill/>
                  </a:tcPr>
                </a:tc>
                <a:tc>
                  <a:txBody>
                    <a:bodyPr/>
                    <a:lstStyle/>
                    <a:p>
                      <a:pPr>
                        <a:buNone/>
                      </a:pPr>
                      <a:r>
                        <a:rPr lang="en-IN"/>
                        <a:t>Secure hosting, deployment, storage, and scalability</a:t>
                      </a:r>
                    </a:p>
                  </a:txBody>
                  <a:tcPr anchor="ctr">
                    <a:lnL>
                      <a:noFill/>
                    </a:lnL>
                    <a:lnR>
                      <a:noFill/>
                    </a:lnR>
                    <a:lnT>
                      <a:noFill/>
                    </a:lnT>
                    <a:lnB>
                      <a:noFill/>
                    </a:lnB>
                    <a:noFill/>
                  </a:tcPr>
                </a:tc>
                <a:extLst>
                  <a:ext uri="{0D108BD9-81ED-4DB2-BD59-A6C34878D82A}">
                    <a16:rowId xmlns:a16="http://schemas.microsoft.com/office/drawing/2014/main" val="3167062390"/>
                  </a:ext>
                </a:extLst>
              </a:tr>
              <a:tr h="746584">
                <a:tc>
                  <a:txBody>
                    <a:bodyPr/>
                    <a:lstStyle/>
                    <a:p>
                      <a:pPr>
                        <a:buNone/>
                      </a:pPr>
                      <a:r>
                        <a:rPr lang="en-IN" b="1"/>
                        <a:t>IBM watsonx.ai</a:t>
                      </a:r>
                      <a:endParaRPr lang="en-IN"/>
                    </a:p>
                  </a:txBody>
                  <a:tcPr anchor="ctr">
                    <a:lnL>
                      <a:noFill/>
                    </a:lnL>
                    <a:lnR>
                      <a:noFill/>
                    </a:lnR>
                    <a:lnT>
                      <a:noFill/>
                    </a:lnT>
                    <a:lnB>
                      <a:noFill/>
                    </a:lnB>
                    <a:noFill/>
                  </a:tcPr>
                </a:tc>
                <a:tc>
                  <a:txBody>
                    <a:bodyPr/>
                    <a:lstStyle/>
                    <a:p>
                      <a:pPr>
                        <a:buNone/>
                      </a:pPr>
                      <a:r>
                        <a:rPr lang="en-IN" dirty="0"/>
                        <a:t>Model deployment, embeddings, retrieval, AI governance, and monitoring</a:t>
                      </a:r>
                    </a:p>
                  </a:txBody>
                  <a:tcPr anchor="ctr">
                    <a:lnL>
                      <a:noFill/>
                    </a:lnL>
                    <a:lnR>
                      <a:noFill/>
                    </a:lnR>
                    <a:lnT>
                      <a:noFill/>
                    </a:lnT>
                    <a:lnB>
                      <a:noFill/>
                    </a:lnB>
                    <a:noFill/>
                  </a:tcPr>
                </a:tc>
                <a:extLst>
                  <a:ext uri="{0D108BD9-81ED-4DB2-BD59-A6C34878D82A}">
                    <a16:rowId xmlns:a16="http://schemas.microsoft.com/office/drawing/2014/main" val="228943114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778D67F5-3952-0A36-CE4E-B5E2B79D19DE}"/>
              </a:ext>
            </a:extLst>
          </p:cNvPr>
          <p:cNvPicPr>
            <a:picLocks noChangeAspect="1"/>
          </p:cNvPicPr>
          <p:nvPr/>
        </p:nvPicPr>
        <p:blipFill>
          <a:blip r:embed="rId3"/>
          <a:stretch>
            <a:fillRect/>
          </a:stretch>
        </p:blipFill>
        <p:spPr>
          <a:xfrm>
            <a:off x="1039563" y="1349910"/>
            <a:ext cx="10255045" cy="49494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41"/>
          <p:cNvSpPr txBox="1"/>
          <p:nvPr/>
        </p:nvSpPr>
        <p:spPr>
          <a:xfrm>
            <a:off x="445008" y="151200"/>
            <a:ext cx="11301984" cy="6555600"/>
          </a:xfrm>
          <a:prstGeom prst="rect">
            <a:avLst/>
          </a:prstGeom>
          <a:noFill/>
          <a:ln>
            <a:noFill/>
          </a:ln>
        </p:spPr>
        <p:txBody>
          <a:bodyPr spcFirstLastPara="1" wrap="square" lIns="91425" tIns="45700" rIns="91425" bIns="45700" anchor="t" anchorCtr="0">
            <a:spAutoFit/>
          </a:bodyPr>
          <a:lstStyle/>
          <a:p>
            <a:pPr algn="ctr"/>
            <a:r>
              <a:rPr lang="en-IN" sz="1600" b="1" dirty="0"/>
              <a:t>Novelty and Uniqueness of Agriculture Doctor using Agentic AI</a:t>
            </a:r>
          </a:p>
          <a:p>
            <a:pPr algn="just"/>
            <a:endParaRPr lang="en-IN" b="1" dirty="0"/>
          </a:p>
          <a:p>
            <a:pPr algn="just"/>
            <a:r>
              <a:rPr lang="en-IN" dirty="0"/>
              <a:t>The proposed </a:t>
            </a:r>
            <a:r>
              <a:rPr lang="en-IN" b="1" dirty="0"/>
              <a:t>Agriculture Doctor</a:t>
            </a:r>
            <a:r>
              <a:rPr lang="en-IN" dirty="0"/>
              <a:t> introduces an innovative approach to digital farming assistance by combining </a:t>
            </a:r>
            <a:r>
              <a:rPr lang="en-IN" b="1" dirty="0"/>
              <a:t>Agentic AI, Large Language Models (LLMs), Retrieval-Augmented Generation (RAG), Computer Vision, and Real-Time Weather Intelligence</a:t>
            </a:r>
            <a:r>
              <a:rPr lang="en-IN" dirty="0"/>
              <a:t> into a single intelligent agricultural ecosystem. Unlike traditional agricultural advisory systems that provide static and generic recommendations, the Agriculture Doctor can autonomously </a:t>
            </a:r>
            <a:r>
              <a:rPr lang="en-IN" dirty="0" err="1"/>
              <a:t>analyze</a:t>
            </a:r>
            <a:r>
              <a:rPr lang="en-IN" dirty="0"/>
              <a:t>, reason, and make context-aware decisions using multiple collaborating AI agents.</a:t>
            </a:r>
          </a:p>
          <a:p>
            <a:pPr algn="just"/>
            <a:r>
              <a:rPr lang="en-IN" dirty="0"/>
              <a:t>The system acts as a virtual agricultural expert capable of diagnosing crop diseases, retrieving relevant agricultural knowledge, evaluating environmental conditions, and generating personalized treatment recommendations for farmers in real time.</a:t>
            </a:r>
          </a:p>
          <a:p>
            <a:pPr marL="0" marR="0" lvl="0" indent="0" algn="just" rtl="0">
              <a:lnSpc>
                <a:spcPct val="100000"/>
              </a:lnSpc>
              <a:spcBef>
                <a:spcPts val="0"/>
              </a:spcBef>
              <a:spcAft>
                <a:spcPts val="0"/>
              </a:spcAft>
              <a:buNone/>
            </a:pPr>
            <a:endParaRPr lang="en-IN" sz="1400" b="0" i="0" u="none" strike="noStrike" cap="none" dirty="0">
              <a:solidFill>
                <a:srgbClr val="000000"/>
              </a:solidFill>
              <a:latin typeface="Arial"/>
              <a:ea typeface="Arial"/>
              <a:cs typeface="Arial"/>
              <a:sym typeface="Arial"/>
            </a:endParaRPr>
          </a:p>
          <a:p>
            <a:pPr algn="just"/>
            <a:r>
              <a:rPr lang="en-IN" b="1" dirty="0"/>
              <a:t>1. Multi-Agent Collaborative Intelligence</a:t>
            </a:r>
          </a:p>
          <a:p>
            <a:pPr algn="just"/>
            <a:r>
              <a:rPr lang="en-IN" dirty="0"/>
              <a:t>Unlike conventional chatbots that rely on a single AI model, Agriculture Doctor employs multiple specialized agents working together:</a:t>
            </a:r>
          </a:p>
          <a:p>
            <a:pPr algn="just"/>
            <a:r>
              <a:rPr lang="en-IN" dirty="0"/>
              <a:t>Crop Diagnosis Agent </a:t>
            </a:r>
          </a:p>
          <a:p>
            <a:pPr algn="just"/>
            <a:r>
              <a:rPr lang="en-IN" dirty="0"/>
              <a:t>Pest Detection Agent </a:t>
            </a:r>
          </a:p>
          <a:p>
            <a:pPr algn="just"/>
            <a:r>
              <a:rPr lang="en-IN" dirty="0"/>
              <a:t>Weather Analysis Agent </a:t>
            </a:r>
          </a:p>
          <a:p>
            <a:pPr algn="just"/>
            <a:r>
              <a:rPr lang="en-IN" dirty="0"/>
              <a:t>Knowledge Retrieval Agent </a:t>
            </a:r>
          </a:p>
          <a:p>
            <a:pPr algn="just"/>
            <a:r>
              <a:rPr lang="en-IN" dirty="0"/>
              <a:t>Advisory Agent </a:t>
            </a:r>
          </a:p>
          <a:p>
            <a:pPr algn="just"/>
            <a:r>
              <a:rPr lang="en-IN" dirty="0"/>
              <a:t>Each agent performs a specific task and collaborates with other agents to provide accurate recommendations.</a:t>
            </a:r>
          </a:p>
          <a:p>
            <a:pPr algn="just"/>
            <a:r>
              <a:rPr lang="en-IN" b="1" dirty="0"/>
              <a:t>Unique Value:</a:t>
            </a:r>
            <a:r>
              <a:rPr lang="en-IN" dirty="0"/>
              <a:t> Simulates the decision-making process of a team of agricultural experts rather than a single advisory system.</a:t>
            </a:r>
          </a:p>
          <a:p>
            <a:pPr algn="just"/>
            <a:br>
              <a:rPr lang="en-IN" dirty="0"/>
            </a:br>
            <a:endParaRPr lang="en-IN" dirty="0"/>
          </a:p>
          <a:p>
            <a:pPr algn="just"/>
            <a:r>
              <a:rPr lang="en-IN" b="1" dirty="0"/>
              <a:t>2. Agentic AI-Based Autonomous Decision Making</a:t>
            </a:r>
          </a:p>
          <a:p>
            <a:pPr algn="just"/>
            <a:r>
              <a:rPr lang="en-IN" dirty="0"/>
              <a:t>Most agricultural applications require users to manually search for solutions.</a:t>
            </a:r>
          </a:p>
          <a:p>
            <a:pPr algn="just"/>
            <a:r>
              <a:rPr lang="en-IN" dirty="0"/>
              <a:t>Agriculture Doctor:</a:t>
            </a:r>
          </a:p>
          <a:p>
            <a:pPr algn="just"/>
            <a:r>
              <a:rPr lang="en-IN" dirty="0"/>
              <a:t>Understands the farmer's problem. </a:t>
            </a:r>
          </a:p>
          <a:p>
            <a:pPr algn="just"/>
            <a:r>
              <a:rPr lang="en-IN" dirty="0"/>
              <a:t>Decides which information is needed. </a:t>
            </a:r>
          </a:p>
          <a:p>
            <a:pPr algn="just"/>
            <a:r>
              <a:rPr lang="en-IN" dirty="0"/>
              <a:t>Retrieves agricultural knowledge. </a:t>
            </a:r>
          </a:p>
          <a:p>
            <a:pPr algn="just"/>
            <a:r>
              <a:rPr lang="en-IN" dirty="0" err="1"/>
              <a:t>Analyzes</a:t>
            </a:r>
            <a:r>
              <a:rPr lang="en-IN" dirty="0"/>
              <a:t> weather conditions. </a:t>
            </a:r>
          </a:p>
          <a:p>
            <a:pPr algn="just"/>
            <a:r>
              <a:rPr lang="en-IN" dirty="0"/>
              <a:t>Generates treatment plans autonomously. </a:t>
            </a:r>
          </a:p>
          <a:p>
            <a:pPr algn="just"/>
            <a:r>
              <a:rPr lang="en-IN" b="1" dirty="0"/>
              <a:t>Unique Value:</a:t>
            </a:r>
            <a:r>
              <a:rPr lang="en-IN" dirty="0"/>
              <a:t> The system actively reasons and plans actions instead of merely answering questions.</a:t>
            </a:r>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5063137" y="517699"/>
            <a:ext cx="2311057"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Future Scope </a:t>
            </a:r>
            <a:endParaRPr sz="2400" b="1" i="0" u="none" strike="noStrike" cap="none" dirty="0">
              <a:solidFill>
                <a:srgbClr val="000000"/>
              </a:solidFill>
              <a:latin typeface="Arial"/>
              <a:ea typeface="Arial"/>
              <a:cs typeface="Arial"/>
              <a:sym typeface="Arial"/>
            </a:endParaRPr>
          </a:p>
        </p:txBody>
      </p:sp>
      <p:sp>
        <p:nvSpPr>
          <p:cNvPr id="176" name="Google Shape;176;p43"/>
          <p:cNvSpPr/>
          <p:nvPr/>
        </p:nvSpPr>
        <p:spPr>
          <a:xfrm>
            <a:off x="1218724" y="1221716"/>
            <a:ext cx="9214580" cy="1482156"/>
          </a:xfrm>
          <a:prstGeom prst="rect">
            <a:avLst/>
          </a:prstGeom>
          <a:noFill/>
          <a:ln>
            <a:noFill/>
          </a:ln>
        </p:spPr>
        <p:txBody>
          <a:bodyPr spcFirstLastPara="1" wrap="square" lIns="0" tIns="0" rIns="0" bIns="0" anchor="t" anchorCtr="0">
            <a:noAutofit/>
          </a:bodyPr>
          <a:lstStyle/>
          <a:p>
            <a:pPr lvl="0" algn="just">
              <a:lnSpc>
                <a:spcPct val="162162"/>
              </a:lnSpc>
              <a:buClr>
                <a:srgbClr val="2B3541"/>
              </a:buClr>
              <a:buSzPts val="1850"/>
            </a:pPr>
            <a:r>
              <a:rPr lang="en-IN" dirty="0"/>
              <a:t>The Agriculture Doctor system has significant potential for future expansion and can evolve into a comprehensive smart farming platform. By integrating advanced AI technologies, IoT devices, drones, and predictive analytics, the system can provide even more intelligent and proactive agricultural support.</a:t>
            </a:r>
            <a:endParaRPr b="0" i="0" u="none" strike="noStrike" cap="none" dirty="0">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2"/>
          <p:cNvSpPr/>
          <p:nvPr/>
        </p:nvSpPr>
        <p:spPr>
          <a:xfrm>
            <a:off x="4316241" y="3244540"/>
            <a:ext cx="3559515"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Git Hub Link for Project</a:t>
            </a:r>
            <a:endParaRPr sz="2400" b="1"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EC89B5C7-79B5-FE58-254D-364298ECC183}"/>
              </a:ext>
            </a:extLst>
          </p:cNvPr>
          <p:cNvSpPr txBox="1"/>
          <p:nvPr/>
        </p:nvSpPr>
        <p:spPr>
          <a:xfrm>
            <a:off x="4513124" y="4207477"/>
            <a:ext cx="3165750" cy="307777"/>
          </a:xfrm>
          <a:prstGeom prst="rect">
            <a:avLst/>
          </a:prstGeom>
          <a:noFill/>
        </p:spPr>
        <p:txBody>
          <a:bodyPr wrap="square">
            <a:spAutoFit/>
          </a:bodyPr>
          <a:lstStyle/>
          <a:p>
            <a:r>
              <a:rPr lang="en-IN" sz="1400" dirty="0">
                <a:solidFill>
                  <a:srgbClr val="2B3541"/>
                </a:solidFill>
                <a:latin typeface="Times New Roman"/>
                <a:ea typeface="Times New Roman"/>
                <a:cs typeface="Times New Roman"/>
                <a:sym typeface="Times New Roman"/>
              </a:rPr>
              <a:t>http://github.com/jimesh12/IBM-project</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TotalTime>
  <Words>1004</Words>
  <Application>Microsoft Office PowerPoint</Application>
  <PresentationFormat>Widescreen</PresentationFormat>
  <Paragraphs>120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Jimesh Rana</cp:lastModifiedBy>
  <cp:revision>39</cp:revision>
  <dcterms:created xsi:type="dcterms:W3CDTF">2025-07-08T05:06:56Z</dcterms:created>
  <dcterms:modified xsi:type="dcterms:W3CDTF">2026-06-25T10:57:29Z</dcterms:modified>
</cp:coreProperties>
</file>