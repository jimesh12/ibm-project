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ghOvm2EZ50R9dUsIjQzxxGQymf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DA409A-753F-43E9-88D9-1875949E996A}">
  <a:tblStyle styleId="{72DA409A-753F-43E9-88D9-1875949E996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jmrana@mbit.edu.i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821460903"/>
              </p:ext>
            </p:extLst>
          </p:nvPr>
        </p:nvGraphicFramePr>
        <p:xfrm>
          <a:off x="1299257" y="2600315"/>
          <a:ext cx="9395000" cy="2167125"/>
        </p:xfrm>
        <a:graphic>
          <a:graphicData uri="http://schemas.openxmlformats.org/drawingml/2006/table">
            <a:tbl>
              <a:tblPr>
                <a:noFill/>
                <a:tableStyleId>{72DA409A-753F-43E9-88D9-1875949E996A}</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JIMESH KUMAR MAHESH KUMAR RANA</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hlinkClick r:id="rId3"/>
                        </a:rPr>
                        <a:t>jmrana@mbit.edu.in</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9879787840</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3379092" y="1591774"/>
            <a:ext cx="575507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Agriculture</a:t>
            </a:r>
            <a:endParaRPr sz="2400" b="1" i="0" u="none" strike="noStrike" cap="none" dirty="0">
              <a:solidFill>
                <a:srgbClr val="000000"/>
              </a:solidFill>
              <a:latin typeface="Arial"/>
              <a:ea typeface="Arial"/>
              <a:cs typeface="Arial"/>
              <a:sym typeface="Arial"/>
            </a:endParaRPr>
          </a:p>
        </p:txBody>
      </p:sp>
      <p:sp>
        <p:nvSpPr>
          <p:cNvPr id="89" name="Google Shape;89;p2"/>
          <p:cNvSpPr txBox="1"/>
          <p:nvPr/>
        </p:nvSpPr>
        <p:spPr>
          <a:xfrm>
            <a:off x="3536408" y="739044"/>
            <a:ext cx="586323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Tile – [Agriculture Doctor]</a:t>
            </a:r>
            <a:endParaRPr sz="24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E3E9D5FF-0847-5C3C-AE55-6364EAD4B5CA}"/>
              </a:ext>
            </a:extLst>
          </p:cNvPr>
          <p:cNvPicPr>
            <a:picLocks noChangeAspect="1"/>
          </p:cNvPicPr>
          <p:nvPr/>
        </p:nvPicPr>
        <p:blipFill>
          <a:blip r:embed="rId4"/>
          <a:stretch>
            <a:fillRect/>
          </a:stretch>
        </p:blipFill>
        <p:spPr>
          <a:xfrm>
            <a:off x="4159046" y="3683877"/>
            <a:ext cx="823402" cy="103414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4"/>
          <p:cNvSpPr txBox="1"/>
          <p:nvPr/>
        </p:nvSpPr>
        <p:spPr>
          <a:xfrm>
            <a:off x="576072" y="1234440"/>
            <a:ext cx="10607040" cy="52629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Problem Statement : Agriculture Doctor</a:t>
            </a:r>
            <a:endParaRPr dirty="0"/>
          </a:p>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r>
              <a:rPr lang="en-IN" dirty="0"/>
              <a:t>Farmers often face challenges in identifying crop diseases, pest infestations, nutrient deficiencies, and suitable treatment methods in a timely manner. Due to limited access to agricultural experts, changing weather conditions, and lack of personalized guidance, farmers may experience reduced crop yields, financial losses, and inefficient use of resources such as fertilizers, pesticides, and water.</a:t>
            </a:r>
          </a:p>
          <a:p>
            <a:r>
              <a:rPr lang="en-IN" dirty="0"/>
              <a:t>Traditional agricultural advisory systems provide generic recommendations and cannot continuously </a:t>
            </a:r>
            <a:r>
              <a:rPr lang="en-IN" dirty="0" err="1"/>
              <a:t>analyze</a:t>
            </a:r>
            <a:r>
              <a:rPr lang="en-IN" dirty="0"/>
              <a:t> multiple factors such as crop health, weather forecasts, soil conditions, and farming practices. Farmers need an intelligent system that can autonomously gather information, </a:t>
            </a:r>
            <a:r>
              <a:rPr lang="en-IN" dirty="0" err="1"/>
              <a:t>analyze</a:t>
            </a:r>
            <a:r>
              <a:rPr lang="en-IN" dirty="0"/>
              <a:t> agricultural problems, consult multiple knowledge sources, and provide accurate, actionable recommendations.</a:t>
            </a:r>
          </a:p>
          <a:p>
            <a:r>
              <a:rPr lang="en-IN" dirty="0"/>
              <a:t>The proposed </a:t>
            </a:r>
            <a:r>
              <a:rPr lang="en-IN" b="1" dirty="0"/>
              <a:t>Agriculture Doctor</a:t>
            </a:r>
            <a:r>
              <a:rPr lang="en-IN" dirty="0"/>
              <a:t> leverages </a:t>
            </a:r>
            <a:r>
              <a:rPr lang="en-IN" b="1" dirty="0"/>
              <a:t>Agentic AI</a:t>
            </a:r>
            <a:r>
              <a:rPr lang="en-IN" dirty="0"/>
              <a:t> to act as a virtual agricultural expert. The system uses specialized AI agents that collaborate to diagnose crop diseases, identify pests and nutrient deficiencies, </a:t>
            </a:r>
            <a:r>
              <a:rPr lang="en-IN" dirty="0" err="1"/>
              <a:t>analyze</a:t>
            </a:r>
            <a:r>
              <a:rPr lang="en-IN" dirty="0"/>
              <a:t> environmental conditions, and recommend appropriate treatments and preventive measures. By integrating image analysis, weather data, agricultural knowledge bases, and farmer inputs, the system delivers personalized and real-time farming advice.</a:t>
            </a:r>
          </a:p>
          <a:p>
            <a:pPr marL="0" marR="0" lvl="0" indent="0" algn="l" rtl="0">
              <a:lnSpc>
                <a:spcPct val="100000"/>
              </a:lnSpc>
              <a:spcBef>
                <a:spcPts val="0"/>
              </a:spcBef>
              <a:spcAft>
                <a:spcPts val="0"/>
              </a:spcAft>
              <a:buNone/>
            </a:pPr>
            <a:endParaRPr lang="en-IN" dirty="0"/>
          </a:p>
          <a:p>
            <a:r>
              <a:rPr lang="en-IN" b="1" dirty="0"/>
              <a:t>Objectives</a:t>
            </a:r>
          </a:p>
          <a:p>
            <a:pPr marL="285750" indent="-285750">
              <a:buFont typeface="Arial" panose="020B0604020202020204" pitchFamily="34" charset="0"/>
              <a:buChar char="•"/>
            </a:pPr>
            <a:r>
              <a:rPr lang="en-IN" dirty="0"/>
              <a:t>Detect crop diseases and pest infestations from farmer-provided images and descriptions. </a:t>
            </a:r>
          </a:p>
          <a:p>
            <a:pPr marL="285750" indent="-285750">
              <a:buFont typeface="Arial" panose="020B0604020202020204" pitchFamily="34" charset="0"/>
              <a:buChar char="•"/>
            </a:pPr>
            <a:r>
              <a:rPr lang="en-IN" dirty="0" err="1"/>
              <a:t>Analyze</a:t>
            </a:r>
            <a:r>
              <a:rPr lang="en-IN" dirty="0"/>
              <a:t> environmental factors such as weather and soil conditions. </a:t>
            </a:r>
          </a:p>
          <a:p>
            <a:pPr marL="285750" indent="-285750">
              <a:buFont typeface="Arial" panose="020B0604020202020204" pitchFamily="34" charset="0"/>
              <a:buChar char="•"/>
            </a:pPr>
            <a:r>
              <a:rPr lang="en-IN" dirty="0"/>
              <a:t>Provide treatment recommendations including fertilizers, pesticides, and farming practices. </a:t>
            </a:r>
          </a:p>
          <a:p>
            <a:pPr marL="285750" indent="-285750">
              <a:buFont typeface="Arial" panose="020B0604020202020204" pitchFamily="34" charset="0"/>
              <a:buChar char="•"/>
            </a:pPr>
            <a:r>
              <a:rPr lang="en-IN" dirty="0"/>
              <a:t>Suggest preventive measures to reduce future crop losses. </a:t>
            </a:r>
          </a:p>
          <a:p>
            <a:pPr marL="285750" indent="-285750">
              <a:buFont typeface="Arial" panose="020B0604020202020204" pitchFamily="34" charset="0"/>
              <a:buChar char="•"/>
            </a:pPr>
            <a:r>
              <a:rPr lang="en-IN" dirty="0"/>
              <a:t>Offer multilingual and easy-to-understand guidance for farmers. </a:t>
            </a:r>
          </a:p>
          <a:p>
            <a:pPr marL="285750" indent="-285750">
              <a:buFont typeface="Arial" panose="020B0604020202020204" pitchFamily="34" charset="0"/>
              <a:buChar char="•"/>
            </a:pPr>
            <a:r>
              <a:rPr lang="en-IN" dirty="0"/>
              <a:t>Improve crop productivity and support sustainable agriculture.</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5" name="Google Shape;95;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667497" y="1165750"/>
            <a:ext cx="12919800" cy="283150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36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3600" b="1" i="0" u="none" strike="noStrike" cap="none" dirty="0">
                <a:solidFill>
                  <a:srgbClr val="000000"/>
                </a:solidFill>
                <a:latin typeface="Arial"/>
                <a:ea typeface="Arial"/>
                <a:cs typeface="Arial"/>
                <a:sym typeface="Arial"/>
              </a:rPr>
              <a:t>Tech Stack (Mandatory)</a:t>
            </a:r>
            <a:r>
              <a:rPr lang="en-US" sz="3600" b="0" i="0" u="none" strike="noStrike" cap="none" dirty="0">
                <a:solidFill>
                  <a:srgbClr val="000000"/>
                </a:solidFill>
                <a:latin typeface="Arial"/>
                <a:ea typeface="Arial"/>
                <a:cs typeface="Arial"/>
                <a:sym typeface="Arial"/>
              </a:rPr>
              <a:t> </a:t>
            </a:r>
            <a:endParaRPr sz="3600" dirty="0"/>
          </a:p>
          <a:p>
            <a:pPr marL="0" marR="0" lvl="0" indent="0" algn="l" rtl="0">
              <a:lnSpc>
                <a:spcPct val="100000"/>
              </a:lnSpc>
              <a:spcBef>
                <a:spcPts val="0"/>
              </a:spcBef>
              <a:spcAft>
                <a:spcPts val="0"/>
              </a:spcAft>
              <a:buNone/>
            </a:pPr>
            <a:r>
              <a:rPr lang="en-US" sz="3600" b="0" i="0" u="none" strike="noStrike" cap="none" dirty="0">
                <a:solidFill>
                  <a:srgbClr val="000000"/>
                </a:solidFill>
                <a:latin typeface="Arial"/>
                <a:ea typeface="Arial"/>
                <a:cs typeface="Arial"/>
                <a:sym typeface="Arial"/>
              </a:rPr>
              <a:t>I used </a:t>
            </a:r>
            <a:r>
              <a:rPr lang="en-US" sz="3600" b="0" i="0" u="none" strike="noStrike" cap="none" dirty="0" err="1">
                <a:solidFill>
                  <a:srgbClr val="000000"/>
                </a:solidFill>
                <a:latin typeface="Arial"/>
                <a:ea typeface="Arial"/>
                <a:cs typeface="Arial"/>
                <a:sym typeface="Arial"/>
              </a:rPr>
              <a:t>LangFlow</a:t>
            </a:r>
            <a:r>
              <a:rPr lang="en-US" sz="3600" b="0" i="0" u="none" strike="noStrike" cap="none" dirty="0">
                <a:solidFill>
                  <a:srgbClr val="000000"/>
                </a:solidFill>
                <a:latin typeface="Arial"/>
                <a:ea typeface="Arial"/>
                <a:cs typeface="Arial"/>
                <a:sym typeface="Arial"/>
              </a:rPr>
              <a:t> + IBM watsonx.ai + Granite Models</a:t>
            </a:r>
            <a:r>
              <a:rPr lang="en-US" sz="3600" b="0" i="0" u="none" strike="noStrike" cap="none" dirty="0">
                <a:solidFill>
                  <a:srgbClr val="000000"/>
                </a:solidFill>
                <a:highlight>
                  <a:srgbClr val="FFFF00"/>
                </a:highlight>
                <a:latin typeface="Arial"/>
                <a:ea typeface="Arial"/>
                <a:cs typeface="Arial"/>
                <a:sym typeface="Arial"/>
              </a:rPr>
              <a:t> </a:t>
            </a:r>
            <a:endParaRPr sz="3600"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1" name="Google Shape;101;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576072" y="1234440"/>
            <a:ext cx="10607040" cy="26776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Proposed Solution:</a:t>
            </a:r>
          </a:p>
          <a:p>
            <a:endParaRPr lang="en-US" b="1" dirty="0"/>
          </a:p>
          <a:p>
            <a:endParaRPr lang="en-US" b="1" dirty="0"/>
          </a:p>
          <a:p>
            <a:r>
              <a:rPr lang="en-IN" dirty="0"/>
              <a:t>The </a:t>
            </a:r>
            <a:r>
              <a:rPr lang="en-IN" b="1" dirty="0"/>
              <a:t>Agriculture Doctor</a:t>
            </a:r>
            <a:r>
              <a:rPr lang="en-IN" dirty="0"/>
              <a:t> is an Agentic AI-powered agricultural assistant that helps farmers diagnose crop diseases, identify pests and nutrient deficiencies, and receive personalized farming recommendations. The system uses multiple AI agents that collaborate autonomously to </a:t>
            </a:r>
            <a:r>
              <a:rPr lang="en-IN" dirty="0" err="1"/>
              <a:t>analyze</a:t>
            </a:r>
            <a:r>
              <a:rPr lang="en-IN" dirty="0"/>
              <a:t> farmer inputs, gather relevant information, and provide actionable recommendations.</a:t>
            </a:r>
          </a:p>
          <a:p>
            <a:r>
              <a:rPr lang="en-IN" dirty="0"/>
              <a:t>Built using </a:t>
            </a:r>
            <a:r>
              <a:rPr lang="en-IN" dirty="0" err="1"/>
              <a:t>Langflow</a:t>
            </a:r>
            <a:r>
              <a:rPr lang="en-IN" dirty="0"/>
              <a:t> and IBM watsonx.ai Granite Models, the solution combines Large Language Models (LLMs), Retrieval-Augmented Generation (RAG), agricultural knowledge bases, weather intelligence, and image analysis to deliver expert-level agricultural support.</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7" name="Google Shape;107;p36"/>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component Used -</a:t>
            </a:r>
            <a:endParaRPr sz="2400" b="1" i="0" u="none" strike="noStrike" cap="none">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474822" y="863187"/>
            <a:ext cx="8823960" cy="48320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1) Chat Input </a:t>
            </a:r>
            <a:r>
              <a:rPr lang="en-US" sz="1400" b="0" i="0" u="none" strike="noStrike" cap="none" dirty="0">
                <a:solidFill>
                  <a:srgbClr val="000000"/>
                </a:solidFill>
                <a:latin typeface="Arial"/>
                <a:ea typeface="Arial"/>
                <a:cs typeface="Arial"/>
                <a:sym typeface="Arial"/>
              </a:rPr>
              <a:t>– Interface where users enter their queries, preferences, or meal details (text/voice/image).</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2) IBM </a:t>
            </a:r>
            <a:r>
              <a:rPr lang="en-US" sz="1400" b="1" i="0" u="none" strike="noStrike" cap="none" dirty="0" err="1">
                <a:solidFill>
                  <a:srgbClr val="000000"/>
                </a:solidFill>
                <a:latin typeface="Arial"/>
                <a:ea typeface="Arial"/>
                <a:cs typeface="Arial"/>
                <a:sym typeface="Arial"/>
              </a:rPr>
              <a:t>watsonx</a:t>
            </a:r>
            <a:r>
              <a:rPr lang="en-US" sz="1400" b="1" i="0" u="none" strike="noStrike" cap="none" dirty="0">
                <a:solidFill>
                  <a:srgbClr val="000000"/>
                </a:solidFill>
                <a:latin typeface="Arial"/>
                <a:ea typeface="Arial"/>
                <a:cs typeface="Arial"/>
                <a:sym typeface="Arial"/>
              </a:rPr>
              <a:t> AI Agent </a:t>
            </a:r>
            <a:r>
              <a:rPr lang="en-US" sz="1400" b="0" i="0" u="none" strike="noStrike" cap="none" dirty="0">
                <a:solidFill>
                  <a:srgbClr val="000000"/>
                </a:solidFill>
                <a:latin typeface="Arial"/>
                <a:ea typeface="Arial"/>
                <a:cs typeface="Arial"/>
                <a:sym typeface="Arial"/>
              </a:rPr>
              <a:t>- Processes user input using Granite models to generate personalized nutrition insights and recommendations.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3) Name of IBM Granite model - </a:t>
            </a:r>
            <a:r>
              <a:rPr lang="en-US" sz="1400" b="0" i="0" u="none" strike="noStrike" cap="none" dirty="0">
                <a:solidFill>
                  <a:srgbClr val="000000"/>
                </a:solidFill>
                <a:latin typeface="Arial"/>
                <a:ea typeface="Arial"/>
                <a:cs typeface="Arial"/>
                <a:sym typeface="Arial"/>
              </a:rPr>
              <a:t>Granite-4.0-8B-Instruct → Fast, efficient for real-time diet recommendations</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4) Chat output -</a:t>
            </a:r>
            <a:r>
              <a:rPr lang="en-US" sz="1400" b="0" i="0" u="none" strike="noStrike" cap="none" dirty="0">
                <a:solidFill>
                  <a:srgbClr val="000000"/>
                </a:solidFill>
                <a:latin typeface="Arial"/>
                <a:ea typeface="Arial"/>
                <a:cs typeface="Arial"/>
                <a:sym typeface="Arial"/>
              </a:rPr>
              <a:t>Displays AI-generated responses such as diet plans, nutritional analysis, and health suggestions.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5) File component - </a:t>
            </a:r>
            <a:r>
              <a:rPr lang="en-US" sz="1400" b="0" i="0" u="none" strike="noStrike" cap="none" dirty="0">
                <a:solidFill>
                  <a:srgbClr val="000000"/>
                </a:solidFill>
                <a:latin typeface="Arial"/>
                <a:ea typeface="Arial"/>
                <a:cs typeface="Arial"/>
                <a:sym typeface="Arial"/>
              </a:rPr>
              <a:t>Stores and retrieves user data, meal logs, and nutritional datasets for analysis and tracking.</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342900" marR="0" lvl="0" indent="-25400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466867D8-62ED-4DE9-2B20-492732F7CA1B}"/>
              </a:ext>
            </a:extLst>
          </p:cNvPr>
          <p:cNvPicPr>
            <a:picLocks noChangeAspect="1"/>
          </p:cNvPicPr>
          <p:nvPr/>
        </p:nvPicPr>
        <p:blipFill>
          <a:blip r:embed="rId3"/>
          <a:stretch>
            <a:fillRect/>
          </a:stretch>
        </p:blipFill>
        <p:spPr>
          <a:xfrm>
            <a:off x="1769806" y="915516"/>
            <a:ext cx="8936693" cy="51921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1F452C05-CA3D-58C5-5513-BCBBD3307F33}"/>
              </a:ext>
            </a:extLst>
          </p:cNvPr>
          <p:cNvPicPr>
            <a:picLocks noChangeAspect="1"/>
          </p:cNvPicPr>
          <p:nvPr/>
        </p:nvPicPr>
        <p:blipFill>
          <a:blip r:embed="rId3"/>
          <a:stretch>
            <a:fillRect/>
          </a:stretch>
        </p:blipFill>
        <p:spPr>
          <a:xfrm>
            <a:off x="1474838" y="771747"/>
            <a:ext cx="8820764" cy="58805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8" name="Google Shape;138;p9"/>
          <p:cNvSpPr txBox="1"/>
          <p:nvPr/>
        </p:nvSpPr>
        <p:spPr>
          <a:xfrm>
            <a:off x="621792" y="1167493"/>
            <a:ext cx="7406640" cy="289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Role of Agentic AI in Agriculture Doctor</a:t>
            </a:r>
          </a:p>
          <a:p>
            <a:pPr marL="0" marR="0" lvl="0" indent="0" algn="l" rtl="0">
              <a:lnSpc>
                <a:spcPct val="100000"/>
              </a:lnSpc>
              <a:spcBef>
                <a:spcPts val="0"/>
              </a:spcBef>
              <a:spcAft>
                <a:spcPts val="0"/>
              </a:spcAft>
              <a:buNone/>
            </a:pPr>
            <a:endParaRPr lang="en-US" b="1" dirty="0"/>
          </a:p>
          <a:p>
            <a:r>
              <a:rPr lang="en-IN" dirty="0"/>
              <a:t>When a farmer submits a crop image or describes a problem, the Agentic AI system:</a:t>
            </a:r>
          </a:p>
          <a:p>
            <a:r>
              <a:rPr lang="en-IN" dirty="0"/>
              <a:t>Understands the farmer's query. </a:t>
            </a:r>
          </a:p>
          <a:p>
            <a:r>
              <a:rPr lang="en-IN" dirty="0"/>
              <a:t>Identifies the crop and symptoms. </a:t>
            </a:r>
          </a:p>
          <a:p>
            <a:r>
              <a:rPr lang="en-IN" dirty="0"/>
              <a:t>Retrieves relevant agricultural knowledge. </a:t>
            </a:r>
          </a:p>
          <a:p>
            <a:r>
              <a:rPr lang="en-IN" dirty="0" err="1"/>
              <a:t>Analyzes</a:t>
            </a:r>
            <a:r>
              <a:rPr lang="en-IN" dirty="0"/>
              <a:t> weather and environmental conditions. </a:t>
            </a:r>
          </a:p>
          <a:p>
            <a:r>
              <a:rPr lang="en-IN" dirty="0"/>
              <a:t>Diagnoses possible diseases or pest infestations. </a:t>
            </a:r>
          </a:p>
          <a:p>
            <a:r>
              <a:rPr lang="en-IN" dirty="0"/>
              <a:t>Generates treatment and prevention recommendations. </a:t>
            </a:r>
          </a:p>
          <a:p>
            <a:r>
              <a:rPr lang="en-IN" dirty="0"/>
              <a:t>Provides a comprehensive advisory report. </a:t>
            </a:r>
          </a:p>
          <a:p>
            <a:r>
              <a:rPr lang="en-IN" dirty="0"/>
              <a:t>This autonomous decision-making process makes the system more intelligent and effective than conventional agricultural support systems.</a:t>
            </a:r>
          </a:p>
          <a:p>
            <a:pPr marL="0" marR="0" lvl="0" indent="0" algn="l" rtl="0">
              <a:lnSpc>
                <a:spcPct val="100000"/>
              </a:lnSpc>
              <a:spcBef>
                <a:spcPts val="0"/>
              </a:spcBef>
              <a:spcAft>
                <a:spcPts val="0"/>
              </a:spcAft>
              <a:buNone/>
            </a:pP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44" name="Google Shape;144;p39"/>
          <p:cNvSpPr txBox="1"/>
          <p:nvPr/>
        </p:nvSpPr>
        <p:spPr>
          <a:xfrm>
            <a:off x="777240" y="1207008"/>
            <a:ext cx="10515600" cy="4678163"/>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err="1">
                <a:solidFill>
                  <a:srgbClr val="000000"/>
                </a:solidFill>
                <a:latin typeface="Arial"/>
                <a:ea typeface="Arial"/>
                <a:cs typeface="Arial"/>
                <a:sym typeface="Arial"/>
              </a:rPr>
              <a:t>Langflow</a:t>
            </a:r>
            <a:r>
              <a:rPr lang="en-US" sz="1800" b="1" i="0" u="none" strike="noStrike" cap="none" dirty="0">
                <a:solidFill>
                  <a:srgbClr val="000000"/>
                </a:solidFill>
                <a:latin typeface="Arial"/>
                <a:ea typeface="Arial"/>
                <a:cs typeface="Arial"/>
                <a:sym typeface="Arial"/>
              </a:rPr>
              <a:t> platform </a:t>
            </a:r>
            <a:r>
              <a:rPr lang="en-US" sz="1800" b="0" i="0" u="none" strike="noStrike" cap="none" dirty="0">
                <a:solidFill>
                  <a:srgbClr val="000000"/>
                </a:solidFill>
                <a:latin typeface="Arial"/>
                <a:ea typeface="Arial"/>
                <a:cs typeface="Arial"/>
                <a:sym typeface="Arial"/>
              </a:rPr>
              <a:t>-For designing and orchestrating multi-agent workflows visually</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a:t>
            </a:r>
            <a:r>
              <a:rPr lang="en-US" sz="1800" b="1" i="0" u="none" strike="noStrike" cap="none" dirty="0" err="1">
                <a:solidFill>
                  <a:srgbClr val="000000"/>
                </a:solidFill>
                <a:latin typeface="Arial"/>
                <a:ea typeface="Arial"/>
                <a:cs typeface="Arial"/>
                <a:sym typeface="Arial"/>
              </a:rPr>
              <a:t>Grainte</a:t>
            </a:r>
            <a:r>
              <a:rPr lang="en-US" sz="1800" b="1" i="0" u="none" strike="noStrike" cap="none" dirty="0">
                <a:solidFill>
                  <a:srgbClr val="000000"/>
                </a:solidFill>
                <a:latin typeface="Arial"/>
                <a:ea typeface="Arial"/>
                <a:cs typeface="Arial"/>
                <a:sym typeface="Arial"/>
              </a:rPr>
              <a:t> model </a:t>
            </a:r>
            <a:r>
              <a:rPr lang="en-US" sz="1800" b="0" i="0" u="none" strike="noStrike" cap="none" dirty="0">
                <a:solidFill>
                  <a:srgbClr val="000000"/>
                </a:solidFill>
                <a:latin typeface="Arial"/>
                <a:ea typeface="Arial"/>
                <a:cs typeface="Arial"/>
                <a:sym typeface="Arial"/>
              </a:rPr>
              <a:t>-  for </a:t>
            </a:r>
            <a:r>
              <a:rPr lang="en-US" sz="1800" b="0" i="0" u="none" strike="noStrike" cap="none" dirty="0" err="1">
                <a:solidFill>
                  <a:srgbClr val="000000"/>
                </a:solidFill>
                <a:latin typeface="Arial"/>
                <a:ea typeface="Arial"/>
                <a:cs typeface="Arial"/>
                <a:sym typeface="Arial"/>
              </a:rPr>
              <a:t>eg</a:t>
            </a:r>
            <a:r>
              <a:rPr lang="en-US" sz="1800" b="0" i="0" u="none" strike="noStrike" cap="none" dirty="0">
                <a:solidFill>
                  <a:srgbClr val="000000"/>
                </a:solidFill>
                <a:latin typeface="Arial"/>
                <a:ea typeface="Arial"/>
                <a:cs typeface="Arial"/>
                <a:sym typeface="Arial"/>
              </a:rPr>
              <a:t> – ibm-granite-3-2-8b – For natural language understanding, reasoning, and personalization</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Cloud </a:t>
            </a:r>
            <a:r>
              <a:rPr lang="en-US" sz="1800" b="0" i="0" u="none" strike="noStrike" cap="none" dirty="0">
                <a:solidFill>
                  <a:srgbClr val="000000"/>
                </a:solidFill>
                <a:latin typeface="Arial"/>
                <a:ea typeface="Arial"/>
                <a:cs typeface="Arial"/>
                <a:sym typeface="Arial"/>
              </a:rPr>
              <a:t>– It provides the infrastructure to build, deploy, and scale the Nutrition Agent efficiently. IBM Cloud enables a </a:t>
            </a:r>
            <a:r>
              <a:rPr lang="en-US" sz="1800" b="1" i="0" u="none" strike="noStrike" cap="none" dirty="0">
                <a:solidFill>
                  <a:srgbClr val="000000"/>
                </a:solidFill>
                <a:latin typeface="Arial"/>
                <a:ea typeface="Arial"/>
                <a:cs typeface="Arial"/>
                <a:sym typeface="Arial"/>
              </a:rPr>
              <a:t>reliable, secure, and scalable environment</a:t>
            </a:r>
            <a:r>
              <a:rPr lang="en-US" sz="1800" b="0" i="0" u="none" strike="noStrike" cap="none" dirty="0">
                <a:solidFill>
                  <a:srgbClr val="000000"/>
                </a:solidFill>
                <a:latin typeface="Arial"/>
                <a:ea typeface="Arial"/>
                <a:cs typeface="Arial"/>
                <a:sym typeface="Arial"/>
              </a:rPr>
              <a:t> for deploying the Nutrition Agent.</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a:solidFill>
                  <a:srgbClr val="000000"/>
                </a:solidFill>
                <a:latin typeface="Arial"/>
                <a:ea typeface="Arial"/>
                <a:cs typeface="Arial"/>
                <a:sym typeface="Arial"/>
              </a:rPr>
              <a:t>IBM Watsonx.ai - </a:t>
            </a:r>
            <a:r>
              <a:rPr lang="en-US" sz="1800" b="0" i="0" u="none" strike="noStrike" cap="none" dirty="0">
                <a:solidFill>
                  <a:srgbClr val="000000"/>
                </a:solidFill>
                <a:latin typeface="Arial"/>
                <a:ea typeface="Arial"/>
                <a:cs typeface="Arial"/>
                <a:sym typeface="Arial"/>
              </a:rPr>
              <a:t>For model deployment, embeddings, and AI governance</a:t>
            </a:r>
            <a:endParaRPr dirty="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50" name="Google Shape;150;p40"/>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40"/>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2" name="Google Shape;152;p40"/>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778D67F5-3952-0A36-CE4E-B5E2B79D19DE}"/>
              </a:ext>
            </a:extLst>
          </p:cNvPr>
          <p:cNvPicPr>
            <a:picLocks noChangeAspect="1"/>
          </p:cNvPicPr>
          <p:nvPr/>
        </p:nvPicPr>
        <p:blipFill>
          <a:blip r:embed="rId3"/>
          <a:stretch>
            <a:fillRect/>
          </a:stretch>
        </p:blipFill>
        <p:spPr>
          <a:xfrm>
            <a:off x="1039563" y="1349910"/>
            <a:ext cx="10255045" cy="49494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1" name="Google Shape;161;p41"/>
          <p:cNvSpPr txBox="1"/>
          <p:nvPr/>
        </p:nvSpPr>
        <p:spPr>
          <a:xfrm>
            <a:off x="445008" y="151200"/>
            <a:ext cx="11301984" cy="6555600"/>
          </a:xfrm>
          <a:prstGeom prst="rect">
            <a:avLst/>
          </a:prstGeom>
          <a:noFill/>
          <a:ln>
            <a:noFill/>
          </a:ln>
        </p:spPr>
        <p:txBody>
          <a:bodyPr spcFirstLastPara="1" wrap="square" lIns="91425" tIns="45700" rIns="91425" bIns="45700" anchor="t" anchorCtr="0">
            <a:spAutoFit/>
          </a:bodyPr>
          <a:lstStyle/>
          <a:p>
            <a:r>
              <a:rPr lang="en-IN" b="1" dirty="0"/>
              <a:t>Novelty and Uniqueness of Agriculture Doctor using Agentic AI</a:t>
            </a:r>
          </a:p>
          <a:p>
            <a:r>
              <a:rPr lang="en-IN" b="1" dirty="0"/>
              <a:t>Novelty</a:t>
            </a:r>
          </a:p>
          <a:p>
            <a:r>
              <a:rPr lang="en-IN" dirty="0"/>
              <a:t>The proposed </a:t>
            </a:r>
            <a:r>
              <a:rPr lang="en-IN" b="1" dirty="0"/>
              <a:t>Agriculture Doctor</a:t>
            </a:r>
            <a:r>
              <a:rPr lang="en-IN" dirty="0"/>
              <a:t> introduces an innovative approach to digital farming assistance by combining </a:t>
            </a:r>
            <a:r>
              <a:rPr lang="en-IN" b="1" dirty="0"/>
              <a:t>Agentic AI, Large Language Models (LLMs), Retrieval-Augmented Generation (RAG), Computer Vision, and Real-Time Weather Intelligence</a:t>
            </a:r>
            <a:r>
              <a:rPr lang="en-IN" dirty="0"/>
              <a:t> into a single intelligent agricultural ecosystem. Unlike traditional agricultural advisory systems that provide static and generic recommendations, the Agriculture Doctor can autonomously </a:t>
            </a:r>
            <a:r>
              <a:rPr lang="en-IN" dirty="0" err="1"/>
              <a:t>analyze</a:t>
            </a:r>
            <a:r>
              <a:rPr lang="en-IN" dirty="0"/>
              <a:t>, reason, and make context-aware decisions using multiple collaborating AI agents.</a:t>
            </a:r>
          </a:p>
          <a:p>
            <a:r>
              <a:rPr lang="en-IN" dirty="0"/>
              <a:t>The system acts as a virtual agricultural expert capable of diagnosing crop diseases, retrieving relevant agricultural knowledge, evaluating environmental conditions, and generating personalized treatment recommendations for farmers in real time.</a:t>
            </a:r>
          </a:p>
          <a:p>
            <a:pPr marL="0" marR="0" lvl="0" indent="0" algn="l" rtl="0">
              <a:lnSpc>
                <a:spcPct val="100000"/>
              </a:lnSpc>
              <a:spcBef>
                <a:spcPts val="0"/>
              </a:spcBef>
              <a:spcAft>
                <a:spcPts val="0"/>
              </a:spcAft>
              <a:buNone/>
            </a:pPr>
            <a:endParaRPr lang="en-IN" sz="1400" b="0" i="0" u="none" strike="noStrike" cap="none" dirty="0">
              <a:solidFill>
                <a:srgbClr val="000000"/>
              </a:solidFill>
              <a:latin typeface="Arial"/>
              <a:ea typeface="Arial"/>
              <a:cs typeface="Arial"/>
              <a:sym typeface="Arial"/>
            </a:endParaRPr>
          </a:p>
          <a:p>
            <a:r>
              <a:rPr lang="en-IN" b="1" dirty="0"/>
              <a:t>1. Multi-Agent Collaborative Intelligence</a:t>
            </a:r>
          </a:p>
          <a:p>
            <a:r>
              <a:rPr lang="en-IN" dirty="0"/>
              <a:t>Unlike conventional chatbots that rely on a single AI model, Agriculture Doctor employs multiple specialized agents working together:</a:t>
            </a:r>
          </a:p>
          <a:p>
            <a:r>
              <a:rPr lang="en-IN" dirty="0"/>
              <a:t>Crop Diagnosis Agent </a:t>
            </a:r>
          </a:p>
          <a:p>
            <a:r>
              <a:rPr lang="en-IN" dirty="0"/>
              <a:t>Pest Detection Agent </a:t>
            </a:r>
          </a:p>
          <a:p>
            <a:r>
              <a:rPr lang="en-IN" dirty="0"/>
              <a:t>Weather Analysis Agent </a:t>
            </a:r>
          </a:p>
          <a:p>
            <a:r>
              <a:rPr lang="en-IN" dirty="0"/>
              <a:t>Knowledge Retrieval Agent </a:t>
            </a:r>
          </a:p>
          <a:p>
            <a:r>
              <a:rPr lang="en-IN" dirty="0"/>
              <a:t>Advisory Agent </a:t>
            </a:r>
          </a:p>
          <a:p>
            <a:r>
              <a:rPr lang="en-IN" dirty="0"/>
              <a:t>Each agent performs a specific task and collaborates with other agents to provide accurate recommendations.</a:t>
            </a:r>
          </a:p>
          <a:p>
            <a:r>
              <a:rPr lang="en-IN" b="1" dirty="0"/>
              <a:t>Unique Value:</a:t>
            </a:r>
            <a:r>
              <a:rPr lang="en-IN" dirty="0"/>
              <a:t> Simulates the decision-making process of a team of agricultural experts rather than a single advisory system.</a:t>
            </a:r>
          </a:p>
          <a:p>
            <a:br>
              <a:rPr lang="en-IN" dirty="0"/>
            </a:br>
            <a:endParaRPr lang="en-IN" dirty="0"/>
          </a:p>
          <a:p>
            <a:r>
              <a:rPr lang="en-IN" b="1" dirty="0"/>
              <a:t>2. Agentic AI-Based Autonomous Decision Making</a:t>
            </a:r>
          </a:p>
          <a:p>
            <a:r>
              <a:rPr lang="en-IN" dirty="0"/>
              <a:t>Most agricultural applications require users to manually search for solutions.</a:t>
            </a:r>
          </a:p>
          <a:p>
            <a:r>
              <a:rPr lang="en-IN" dirty="0"/>
              <a:t>Agriculture Doctor:</a:t>
            </a:r>
          </a:p>
          <a:p>
            <a:r>
              <a:rPr lang="en-IN" dirty="0"/>
              <a:t>Understands the farmer's problem. </a:t>
            </a:r>
          </a:p>
          <a:p>
            <a:r>
              <a:rPr lang="en-IN" dirty="0"/>
              <a:t>Decides which information is needed. </a:t>
            </a:r>
          </a:p>
          <a:p>
            <a:r>
              <a:rPr lang="en-IN" dirty="0"/>
              <a:t>Retrieves agricultural knowledge. </a:t>
            </a:r>
          </a:p>
          <a:p>
            <a:r>
              <a:rPr lang="en-IN" dirty="0" err="1"/>
              <a:t>Analyzes</a:t>
            </a:r>
            <a:r>
              <a:rPr lang="en-IN" dirty="0"/>
              <a:t> weather conditions. </a:t>
            </a:r>
          </a:p>
          <a:p>
            <a:r>
              <a:rPr lang="en-IN" dirty="0"/>
              <a:t>Generates treatment plans autonomously. </a:t>
            </a:r>
          </a:p>
          <a:p>
            <a:r>
              <a:rPr lang="en-IN" b="1" dirty="0"/>
              <a:t>Unique Value:</a:t>
            </a:r>
            <a:r>
              <a:rPr lang="en-IN" dirty="0"/>
              <a:t> The system actively reasons and plans actions instead of merely answering questions.</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7" name="Google Shape;167;p42"/>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 </a:t>
            </a:r>
            <a:r>
              <a:rPr lang="en-IN" sz="2000" dirty="0">
                <a:solidFill>
                  <a:srgbClr val="2B3541"/>
                </a:solidFill>
                <a:latin typeface="Times New Roman"/>
                <a:ea typeface="Times New Roman"/>
                <a:cs typeface="Times New Roman"/>
                <a:sym typeface="Times New Roman"/>
              </a:rPr>
              <a:t>http://github.com/jimesh12/IBM-project</a:t>
            </a:r>
            <a:endParaRPr sz="1850" b="0" i="0" u="none" strike="noStrike" cap="none" dirty="0">
              <a:solidFill>
                <a:srgbClr val="000000"/>
              </a:solidFill>
              <a:latin typeface="Times New Roman"/>
              <a:ea typeface="Times New Roman"/>
              <a:cs typeface="Times New Roman"/>
              <a:sym typeface="Times New Roman"/>
            </a:endParaRPr>
          </a:p>
        </p:txBody>
      </p:sp>
      <p:sp>
        <p:nvSpPr>
          <p:cNvPr id="168" name="Google Shape;168;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9" name="Google Shape;169;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6" name="Google Shape;176;p43"/>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2000" dirty="0"/>
              <a:t>The Agriculture Doctor system has significant potential for future expansion and can evolve into a comprehensive smart farming platform. By integrating advanced AI technologies, IoT devices, drones, and predictive analytics, the system can provide even more intelligent and proactive agricultural support.</a:t>
            </a:r>
            <a:endParaRPr sz="1850" b="0" i="0" u="none" strike="noStrike" cap="none" dirty="0">
              <a:solidFill>
                <a:srgbClr val="000000"/>
              </a:solidFill>
              <a:latin typeface="Times New Roman"/>
              <a:ea typeface="Times New Roman"/>
              <a:cs typeface="Times New Roman"/>
              <a:sym typeface="Times New Roman"/>
            </a:endParaRPr>
          </a:p>
        </p:txBody>
      </p:sp>
      <p:sp>
        <p:nvSpPr>
          <p:cNvPr id="177" name="Google Shape;177;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8" name="Google Shape;178;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TotalTime>
  <Words>1042</Words>
  <Application>Microsoft Office PowerPoint</Application>
  <PresentationFormat>Widescreen</PresentationFormat>
  <Paragraphs>125</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Jimesh Rana</cp:lastModifiedBy>
  <cp:revision>21</cp:revision>
  <dcterms:created xsi:type="dcterms:W3CDTF">2025-07-08T05:06:56Z</dcterms:created>
  <dcterms:modified xsi:type="dcterms:W3CDTF">2026-06-15T11:27:28Z</dcterms:modified>
</cp:coreProperties>
</file>